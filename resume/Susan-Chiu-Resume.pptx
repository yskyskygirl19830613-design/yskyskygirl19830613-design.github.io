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8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8401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microsoft.com/office/2007/relationships/hdphoto" Target="../media/hdphoto4.wdp"/><Relationship Id="rId3" Type="http://schemas.openxmlformats.org/officeDocument/2006/relationships/image" Target="../media/image1.png"/><Relationship Id="rId7" Type="http://schemas.microsoft.com/office/2007/relationships/hdphoto" Target="../media/hdphoto1.wdp"/><Relationship Id="rId12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microsoft.com/office/2007/relationships/hdphoto" Target="../media/hdphoto3.wdp"/><Relationship Id="rId5" Type="http://schemas.openxmlformats.org/officeDocument/2006/relationships/image" Target="../media/image12.svg"/><Relationship Id="rId15" Type="http://schemas.openxmlformats.org/officeDocument/2006/relationships/image" Target="../media/image7.jpg"/><Relationship Id="rId10" Type="http://schemas.openxmlformats.org/officeDocument/2006/relationships/image" Target="../media/image4.png"/><Relationship Id="rId9" Type="http://schemas.microsoft.com/office/2007/relationships/hdphoto" Target="../media/hdphoto2.wdp"/><Relationship Id="rId14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Freeform 10"/>
          <p:cNvSpPr/>
          <p:nvPr/>
        </p:nvSpPr>
        <p:spPr>
          <a:xfrm rot="10800000">
            <a:off x="-1158378" y="-255030"/>
            <a:ext cx="9979427" cy="983082"/>
          </a:xfrm>
          <a:custGeom>
            <a:avLst/>
            <a:gdLst/>
            <a:ahLst/>
            <a:cxnLst/>
            <a:rect l="l" t="t" r="r" b="b"/>
            <a:pathLst>
              <a:path w="3046723" h="517838">
                <a:moveTo>
                  <a:pt x="203200" y="0"/>
                </a:moveTo>
                <a:lnTo>
                  <a:pt x="2843523" y="0"/>
                </a:lnTo>
                <a:lnTo>
                  <a:pt x="3046723" y="517838"/>
                </a:lnTo>
                <a:lnTo>
                  <a:pt x="0" y="517838"/>
                </a:lnTo>
                <a:lnTo>
                  <a:pt x="203200" y="0"/>
                </a:lnTo>
                <a:close/>
              </a:path>
            </a:pathLst>
          </a:cu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grpSp>
        <p:nvGrpSpPr>
          <p:cNvPr id="82" name="Group 9"/>
          <p:cNvGrpSpPr/>
          <p:nvPr/>
        </p:nvGrpSpPr>
        <p:grpSpPr>
          <a:xfrm rot="-10800000">
            <a:off x="3764073" y="3409043"/>
            <a:ext cx="2989267" cy="1493956"/>
            <a:chOff x="0" y="0"/>
            <a:chExt cx="3046723" cy="517838"/>
          </a:xfrm>
        </p:grpSpPr>
        <p:sp>
          <p:nvSpPr>
            <p:cNvPr id="83" name="Freeform 10"/>
            <p:cNvSpPr/>
            <p:nvPr/>
          </p:nvSpPr>
          <p:spPr>
            <a:xfrm>
              <a:off x="0" y="0"/>
              <a:ext cx="3046723" cy="517838"/>
            </a:xfrm>
            <a:custGeom>
              <a:avLst/>
              <a:gdLst/>
              <a:ahLst/>
              <a:cxnLst/>
              <a:rect l="l" t="t" r="r" b="b"/>
              <a:pathLst>
                <a:path w="3046723" h="517838">
                  <a:moveTo>
                    <a:pt x="203200" y="0"/>
                  </a:moveTo>
                  <a:lnTo>
                    <a:pt x="2843523" y="0"/>
                  </a:lnTo>
                  <a:lnTo>
                    <a:pt x="3046723" y="517838"/>
                  </a:lnTo>
                  <a:lnTo>
                    <a:pt x="0" y="51783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6AC"/>
            </a:solidFill>
            <a:ln w="12700">
              <a:solidFill>
                <a:srgbClr val="4DB6AC"/>
              </a:solidFill>
              <a:prstDash val="solid"/>
            </a:ln>
          </p:spPr>
        </p:sp>
        <p:sp>
          <p:nvSpPr>
            <p:cNvPr id="84" name="TextBox 11"/>
            <p:cNvSpPr txBox="1"/>
            <p:nvPr/>
          </p:nvSpPr>
          <p:spPr>
            <a:xfrm>
              <a:off x="127000" y="-47625"/>
              <a:ext cx="2792723" cy="565463"/>
            </a:xfrm>
            <a:prstGeom prst="rect">
              <a:avLst/>
            </a:prstGeom>
            <a:solidFill>
              <a:srgbClr val="4DB6AC"/>
            </a:solidFill>
            <a:ln w="12700">
              <a:solidFill>
                <a:srgbClr val="4DB6AC"/>
              </a:solidFill>
              <a:prstDash val="solid"/>
            </a:ln>
          </p:spPr>
          <p:txBody>
            <a:bodyPr lIns="25400" tIns="25400" rIns="25400" bIns="25400" rtlCol="0" anchor="ctr"/>
            <a:lstStyle/>
            <a:p>
              <a:pPr algn="ctr" defTabSz="457200">
                <a:lnSpc>
                  <a:spcPts val="1750"/>
                </a:lnSpc>
              </a:pPr>
              <a:endParaRPr sz="900" dirty="0">
                <a:solidFill>
                  <a:prstClr val="black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endParaRPr>
            </a:p>
          </p:txBody>
        </p:sp>
      </p:grpSp>
      <p:sp>
        <p:nvSpPr>
          <p:cNvPr id="3" name="Shape 1"/>
          <p:cNvSpPr/>
          <p:nvPr/>
        </p:nvSpPr>
        <p:spPr>
          <a:xfrm rot="600000">
            <a:off x="7774940" y="0"/>
            <a:ext cx="1828800" cy="804672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73152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30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80160" y="91440"/>
            <a:ext cx="7680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000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grpSp>
        <p:nvGrpSpPr>
          <p:cNvPr id="47" name="Group 7"/>
          <p:cNvGrpSpPr/>
          <p:nvPr/>
        </p:nvGrpSpPr>
        <p:grpSpPr>
          <a:xfrm>
            <a:off x="-948542" y="59851"/>
            <a:ext cx="9926591" cy="1244098"/>
            <a:chOff x="-20930069" y="-16970039"/>
            <a:chExt cx="26470908" cy="3317596"/>
          </a:xfrm>
        </p:grpSpPr>
        <p:sp>
          <p:nvSpPr>
            <p:cNvPr id="48" name="TextBox 8"/>
            <p:cNvSpPr txBox="1"/>
            <p:nvPr/>
          </p:nvSpPr>
          <p:spPr>
            <a:xfrm>
              <a:off x="-20930069" y="-16970039"/>
              <a:ext cx="26470908" cy="131318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3200" b="1" i="0" u="sng" strike="noStrike" kern="1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標楷體" panose="03000509000000000000" pitchFamily="65" charset="-120"/>
                  <a:cs typeface="Arial" panose="020B0604020202020204" pitchFamily="34" charset="0"/>
                </a:rPr>
                <a:t>Susan Chiu</a:t>
              </a:r>
              <a:r>
                <a:rPr kumimoji="0" lang="en-US" altLang="zh-TW" sz="3200" b="1" i="0" u="sng" strike="noStrike" kern="1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標楷體" panose="03000509000000000000" pitchFamily="65" charset="-120"/>
                  <a:cs typeface="Arial" panose="020B0604020202020204" pitchFamily="34" charset="0"/>
                </a:rPr>
                <a:t xml:space="preserve">  </a:t>
              </a:r>
              <a:r>
                <a:rPr kumimoji="0" lang="en-US" altLang="zh-TW" sz="3200" b="1" i="0" u="sng" strike="noStrike" kern="1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標楷體" panose="03000509000000000000" pitchFamily="65" charset="-120"/>
                  <a:cs typeface="Arial" panose="020B0604020202020204" pitchFamily="34" charset="0"/>
                </a:rPr>
                <a:t/>
              </a:r>
              <a:r>
                <a:rPr kumimoji="0" lang="en-US" altLang="zh-TW" sz="3200" b="1" i="0" u="sng" strike="noStrike" kern="1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標楷體" panose="03000509000000000000" pitchFamily="65" charset="-120"/>
                  <a:cs typeface="Arial" panose="020B0604020202020204" pitchFamily="34" charset="0"/>
                </a:rPr>
                <a:t xml:space="preserve">  </a:t>
              </a:r>
              <a:r>
                <a:rPr kumimoji="0" lang="en-US" altLang="zh-TW" sz="1600" b="1" i="0" u="sng" strike="noStrike" kern="100" cap="none" spc="0" normalizeH="0" baseline="0" noProof="0" dirty="0" smtClean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標楷體" panose="03000509000000000000" pitchFamily="65" charset="-120"/>
                  <a:cs typeface="Arial" panose="020B0604020202020204" pitchFamily="34" charset="0"/>
                </a:rPr>
                <a:t>Smart Factory Project Section Manager | FLEXium</a:t>
              </a:r>
              <a:endParaRPr kumimoji="0" lang="zh-TW" altLang="zh-TW" sz="2000" b="1" i="0" u="none" strike="noStrike" kern="1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endParaRPr>
            </a:p>
          </p:txBody>
        </p:sp>
        <p:sp>
          <p:nvSpPr>
            <p:cNvPr id="49" name="TextBox 9"/>
            <p:cNvSpPr txBox="1"/>
            <p:nvPr/>
          </p:nvSpPr>
          <p:spPr>
            <a:xfrm>
              <a:off x="-11371307" y="-14965625"/>
              <a:ext cx="13678007" cy="13131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100" cap="none" spc="0" normalizeH="0" baseline="0" noProof="0" dirty="0">
                  <a:ln>
                    <a:noFill/>
                  </a:ln>
                  <a:solidFill>
                    <a:schemeClr val="accent6">
                      <a:lumMod val="75000"/>
                    </a:schemeClr>
                  </a:solidFill>
                  <a:effectLst/>
                  <a:uLnTx/>
                  <a:uFillTx/>
                  <a:latin typeface="Arial" panose="020B0604020202020204" pitchFamily="34" charset="0"/>
                  <a:ea typeface="標楷體" panose="03000509000000000000" pitchFamily="65" charset="-120"/>
                  <a:cs typeface="Arial" panose="020B0604020202020204" pitchFamily="34" charset="0"/>
                </a:rPr>
                <a:t>National Kaohsiung Univ. of Applied Sciences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200" b="1" i="0" u="none" strike="noStrike" kern="100" cap="none" spc="0" normalizeH="0" baseline="0" noProof="0" dirty="0" smtClean="0">
                  <a:ln>
                    <a:noFill/>
                  </a:ln>
                  <a:solidFill>
                    <a:schemeClr val="accent6">
                      <a:lumMod val="75000"/>
                    </a:schemeClr>
                  </a:solidFill>
                  <a:effectLst/>
                  <a:uLnTx/>
                  <a:uFillTx/>
                  <a:latin typeface="Arial" panose="020B0604020202020204" pitchFamily="34" charset="0"/>
                  <a:ea typeface="標楷體" panose="03000509000000000000" pitchFamily="65" charset="-120"/>
                  <a:cs typeface="Arial" panose="020B0604020202020204" pitchFamily="34" charset="0"/>
                </a:rPr>
                <a:t>Major</a:t>
              </a:r>
              <a:r>
                <a:rPr kumimoji="0" lang="en-US" altLang="zh-TW" sz="1200" b="1" i="0" u="none" strike="noStrike" kern="100" cap="none" spc="0" normalizeH="0" baseline="0" noProof="0" dirty="0">
                  <a:ln>
                    <a:noFill/>
                  </a:ln>
                  <a:solidFill>
                    <a:schemeClr val="accent6">
                      <a:lumMod val="75000"/>
                    </a:schemeClr>
                  </a:solidFill>
                  <a:effectLst/>
                  <a:uLnTx/>
                  <a:uFillTx/>
                  <a:latin typeface="Arial" panose="020B0604020202020204" pitchFamily="34" charset="0"/>
                  <a:ea typeface="標楷體" panose="03000509000000000000" pitchFamily="65" charset="-120"/>
                  <a:cs typeface="Arial" panose="020B0604020202020204" pitchFamily="34" charset="0"/>
                </a:rPr>
                <a:t xml:space="preserve">: </a:t>
              </a:r>
              <a:r>
                <a:rPr kumimoji="0" lang="en-US" altLang="zh-TW" sz="1200" b="1" i="0" u="none" strike="noStrike" kern="100" cap="none" spc="0" normalizeH="0" baseline="0" noProof="0" dirty="0">
                  <a:ln>
                    <a:noFill/>
                  </a:ln>
                  <a:solidFill>
                    <a:schemeClr val="accent6">
                      <a:lumMod val="75000"/>
                    </a:schemeClr>
                  </a:solidFill>
                  <a:effectLst/>
                  <a:uLnTx/>
                  <a:uFillTx/>
                  <a:latin typeface="Arial" panose="020B0604020202020204" pitchFamily="34" charset="0"/>
                  <a:ea typeface="標楷體" panose="03000509000000000000" pitchFamily="65" charset="-120"/>
                  <a:cs typeface="Arial" panose="020B0604020202020204" pitchFamily="34" charset="0"/>
                </a:rPr>
                <a:t>Electronic Engineering</a:t>
              </a:r>
              <a:endParaRPr kumimoji="0" lang="zh-TW" altLang="zh-TW" sz="1600" b="1" i="0" u="none" strike="noStrike" kern="10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endParaRPr>
            </a:p>
          </p:txBody>
        </p:sp>
      </p:grpSp>
      <p:sp>
        <p:nvSpPr>
          <p:cNvPr id="50" name="Freeform 8"/>
          <p:cNvSpPr/>
          <p:nvPr/>
        </p:nvSpPr>
        <p:spPr>
          <a:xfrm rot="5400000">
            <a:off x="344721" y="3811265"/>
            <a:ext cx="6294422" cy="63606"/>
          </a:xfrm>
          <a:custGeom>
            <a:avLst/>
            <a:gdLst/>
            <a:ahLst/>
            <a:cxnLst/>
            <a:rect l="l" t="t" r="r" b="b"/>
            <a:pathLst>
              <a:path w="10959339" h="2287071">
                <a:moveTo>
                  <a:pt x="0" y="0"/>
                </a:moveTo>
                <a:lnTo>
                  <a:pt x="10959339" y="0"/>
                </a:lnTo>
                <a:lnTo>
                  <a:pt x="10959339" y="2287072"/>
                </a:lnTo>
                <a:lnTo>
                  <a:pt x="0" y="22870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1" name="Group 9"/>
          <p:cNvGrpSpPr/>
          <p:nvPr/>
        </p:nvGrpSpPr>
        <p:grpSpPr>
          <a:xfrm rot="-10800000">
            <a:off x="6154036" y="1577419"/>
            <a:ext cx="2110266" cy="673976"/>
            <a:chOff x="0" y="0"/>
            <a:chExt cx="3046723" cy="517838"/>
          </a:xfrm>
        </p:grpSpPr>
        <p:sp>
          <p:nvSpPr>
            <p:cNvPr id="52" name="Freeform 10"/>
            <p:cNvSpPr/>
            <p:nvPr/>
          </p:nvSpPr>
          <p:spPr>
            <a:xfrm>
              <a:off x="0" y="0"/>
              <a:ext cx="3046723" cy="517838"/>
            </a:xfrm>
            <a:custGeom>
              <a:avLst/>
              <a:gdLst/>
              <a:ahLst/>
              <a:cxnLst/>
              <a:rect l="l" t="t" r="r" b="b"/>
              <a:pathLst>
                <a:path w="3046723" h="517838">
                  <a:moveTo>
                    <a:pt x="203200" y="0"/>
                  </a:moveTo>
                  <a:lnTo>
                    <a:pt x="2843523" y="0"/>
                  </a:lnTo>
                  <a:lnTo>
                    <a:pt x="3046723" y="517838"/>
                  </a:lnTo>
                  <a:lnTo>
                    <a:pt x="0" y="51783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6AC"/>
            </a:solidFill>
            <a:ln w="12700">
              <a:solidFill>
                <a:srgbClr val="4DB6AC"/>
              </a:solidFill>
              <a:prstDash val="solid"/>
            </a:ln>
          </p:spPr>
        </p:sp>
        <p:sp>
          <p:nvSpPr>
            <p:cNvPr id="53" name="TextBox 11"/>
            <p:cNvSpPr txBox="1"/>
            <p:nvPr/>
          </p:nvSpPr>
          <p:spPr>
            <a:xfrm>
              <a:off x="127000" y="-47625"/>
              <a:ext cx="2792723" cy="565463"/>
            </a:xfrm>
            <a:prstGeom prst="rect">
              <a:avLst/>
            </a:prstGeom>
            <a:solidFill>
              <a:srgbClr val="4DB6AC"/>
            </a:solidFill>
            <a:ln w="12700">
              <a:solidFill>
                <a:srgbClr val="4DB6AC"/>
              </a:solidFill>
              <a:prstDash val="solid"/>
            </a:ln>
          </p:spPr>
          <p:txBody>
            <a:bodyPr lIns="25400" tIns="25400" rIns="25400" bIns="25400" rtlCol="0" anchor="ctr"/>
            <a:lstStyle/>
            <a:p>
              <a:pPr algn="ctr" defTabSz="457200">
                <a:lnSpc>
                  <a:spcPts val="1750"/>
                </a:lnSpc>
              </a:pPr>
              <a:endParaRPr sz="900" dirty="0">
                <a:solidFill>
                  <a:prstClr val="black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endParaRPr>
            </a:p>
          </p:txBody>
        </p:sp>
      </p:grpSp>
      <p:sp>
        <p:nvSpPr>
          <p:cNvPr id="54" name="TextBox 21"/>
          <p:cNvSpPr txBox="1"/>
          <p:nvPr/>
        </p:nvSpPr>
        <p:spPr>
          <a:xfrm>
            <a:off x="6368105" y="1680901"/>
            <a:ext cx="4143460" cy="560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TW" sz="1300" b="1" dirty="0">
                <a:solidFill>
                  <a:schemeClr val="bg1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ASE Group</a:t>
            </a:r>
            <a:endParaRPr lang="en-US" altLang="zh-TW" sz="1400" b="1" dirty="0">
              <a:solidFill>
                <a:schemeClr val="bg1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lvl="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TW" sz="1300" b="1" dirty="0">
                <a:solidFill>
                  <a:schemeClr val="bg1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Product Engineer</a:t>
            </a:r>
            <a:endParaRPr lang="zh-TW" altLang="en-US" sz="1400" b="1" u="sng" dirty="0">
              <a:solidFill>
                <a:schemeClr val="bg1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3831336" y="1551603"/>
            <a:ext cx="136928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en-US" altLang="zh-TW" sz="1600" b="1" dirty="0" smtClean="0">
                <a:solidFill>
                  <a:prstClr val="black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2006–2008</a:t>
            </a:r>
            <a:endParaRPr lang="id-ID" altLang="zh-CN" sz="1600" b="1" dirty="0">
              <a:solidFill>
                <a:prstClr val="black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pic>
        <p:nvPicPr>
          <p:cNvPr id="56" name="圖片 55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6058" y="963811"/>
            <a:ext cx="1285799" cy="1502159"/>
          </a:xfrm>
          <a:prstGeom prst="rect">
            <a:avLst/>
          </a:prstGeom>
        </p:spPr>
      </p:pic>
      <p:sp>
        <p:nvSpPr>
          <p:cNvPr id="69" name="TextBox 20"/>
          <p:cNvSpPr txBox="1"/>
          <p:nvPr/>
        </p:nvSpPr>
        <p:spPr>
          <a:xfrm>
            <a:off x="3934215" y="2341293"/>
            <a:ext cx="2274408" cy="295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TW" sz="16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2008–2013</a:t>
            </a:r>
            <a:endParaRPr lang="id-ID" altLang="zh-TW" sz="1600" b="1" dirty="0">
              <a:solidFill>
                <a:prstClr val="black">
                  <a:lumMod val="85000"/>
                  <a:lumOff val="15000"/>
                </a:prstClr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grpSp>
        <p:nvGrpSpPr>
          <p:cNvPr id="70" name="Group 9"/>
          <p:cNvGrpSpPr/>
          <p:nvPr/>
        </p:nvGrpSpPr>
        <p:grpSpPr>
          <a:xfrm rot="-10800000">
            <a:off x="6187505" y="2381479"/>
            <a:ext cx="2110266" cy="582340"/>
            <a:chOff x="0" y="0"/>
            <a:chExt cx="3046723" cy="517838"/>
          </a:xfrm>
        </p:grpSpPr>
        <p:sp>
          <p:nvSpPr>
            <p:cNvPr id="71" name="Freeform 10"/>
            <p:cNvSpPr/>
            <p:nvPr/>
          </p:nvSpPr>
          <p:spPr>
            <a:xfrm>
              <a:off x="0" y="0"/>
              <a:ext cx="3046723" cy="517838"/>
            </a:xfrm>
            <a:custGeom>
              <a:avLst/>
              <a:gdLst/>
              <a:ahLst/>
              <a:cxnLst/>
              <a:rect l="l" t="t" r="r" b="b"/>
              <a:pathLst>
                <a:path w="3046723" h="517838">
                  <a:moveTo>
                    <a:pt x="203200" y="0"/>
                  </a:moveTo>
                  <a:lnTo>
                    <a:pt x="2843523" y="0"/>
                  </a:lnTo>
                  <a:lnTo>
                    <a:pt x="3046723" y="517838"/>
                  </a:lnTo>
                  <a:lnTo>
                    <a:pt x="0" y="51783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6AC"/>
            </a:solidFill>
            <a:ln w="12700">
              <a:solidFill>
                <a:srgbClr val="4DB6AC"/>
              </a:solidFill>
              <a:prstDash val="solid"/>
            </a:ln>
          </p:spPr>
        </p:sp>
        <p:sp>
          <p:nvSpPr>
            <p:cNvPr id="72" name="TextBox 11"/>
            <p:cNvSpPr txBox="1"/>
            <p:nvPr/>
          </p:nvSpPr>
          <p:spPr>
            <a:xfrm>
              <a:off x="127000" y="-47625"/>
              <a:ext cx="2792723" cy="565463"/>
            </a:xfrm>
            <a:prstGeom prst="rect">
              <a:avLst/>
            </a:prstGeom>
            <a:solidFill>
              <a:srgbClr val="4DB6AC"/>
            </a:solidFill>
            <a:ln w="12700">
              <a:solidFill>
                <a:srgbClr val="4DB6AC"/>
              </a:solidFill>
              <a:prstDash val="solid"/>
            </a:ln>
          </p:spPr>
          <p:txBody>
            <a:bodyPr lIns="25400" tIns="25400" rIns="25400" bIns="25400" rtlCol="0" anchor="ctr"/>
            <a:lstStyle/>
            <a:p>
              <a:pPr algn="ctr" defTabSz="457200">
                <a:lnSpc>
                  <a:spcPts val="1750"/>
                </a:lnSpc>
              </a:pPr>
              <a:endParaRPr sz="900" dirty="0">
                <a:solidFill>
                  <a:prstClr val="black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endParaRPr>
            </a:p>
          </p:txBody>
        </p:sp>
      </p:grpSp>
      <p:pic>
        <p:nvPicPr>
          <p:cNvPr id="74" name="圖片 73"/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0" b="100000" l="0" r="100000">
                        <a14:foregroundMark x1="84925" y1="19368" x2="84925" y2="19368"/>
                        <a14:foregroundMark x1="75377" y1="45455" x2="75377" y2="45455"/>
                        <a14:foregroundMark x1="24121" y1="41897" x2="24121" y2="41897"/>
                        <a14:foregroundMark x1="21608" y1="51383" x2="21608" y2="51383"/>
                        <a14:foregroundMark x1="19598" y1="60474" x2="19598" y2="60474"/>
                        <a14:foregroundMark x1="20101" y1="58893" x2="20101" y2="58893"/>
                        <a14:foregroundMark x1="8040" y1="40316" x2="8040" y2="40316"/>
                        <a14:foregroundMark x1="2513" y1="37549" x2="2513" y2="37549"/>
                        <a14:foregroundMark x1="2513" y1="13834" x2="2513" y2="13834"/>
                        <a14:foregroundMark x1="20603" y1="6719" x2="20603" y2="6719"/>
                        <a14:foregroundMark x1="42714" y1="3162" x2="42714" y2="3162"/>
                        <a14:foregroundMark x1="58794" y1="12253" x2="58794" y2="12253"/>
                        <a14:foregroundMark x1="71357" y1="11858" x2="71357" y2="11858"/>
                        <a14:foregroundMark x1="76382" y1="17787" x2="76382" y2="17787"/>
                        <a14:foregroundMark x1="78894" y1="9881" x2="78894" y2="9881"/>
                        <a14:foregroundMark x1="86432" y1="11462" x2="86432" y2="11462"/>
                        <a14:foregroundMark x1="89950" y1="9881" x2="89950" y2="9881"/>
                        <a14:foregroundMark x1="92965" y1="50593" x2="92965" y2="50593"/>
                        <a14:foregroundMark x1="93970" y1="68775" x2="93970" y2="68775"/>
                        <a14:foregroundMark x1="89950" y1="58498" x2="89950" y2="58498"/>
                        <a14:foregroundMark x1="68342" y1="49407" x2="68342" y2="49407"/>
                        <a14:foregroundMark x1="22613" y1="38735" x2="23116" y2="38735"/>
                        <a14:foregroundMark x1="20101" y1="34387" x2="20101" y2="34387"/>
                        <a14:foregroundMark x1="9548" y1="26877" x2="9548" y2="26877"/>
                        <a14:foregroundMark x1="9045" y1="18577" x2="9045" y2="18577"/>
                        <a14:foregroundMark x1="12060" y1="15020" x2="13568" y2="15415"/>
                        <a14:foregroundMark x1="21608" y1="20553" x2="21608" y2="20553"/>
                        <a14:foregroundMark x1="25628" y1="21739" x2="28643" y2="22530"/>
                        <a14:foregroundMark x1="34171" y1="23320" x2="36181" y2="23320"/>
                        <a14:foregroundMark x1="37688" y1="24506" x2="40201" y2="24506"/>
                        <a14:foregroundMark x1="42714" y1="24901" x2="42714" y2="24901"/>
                        <a14:foregroundMark x1="47236" y1="28063" x2="47236" y2="28063"/>
                        <a14:foregroundMark x1="41709" y1="32016" x2="41709" y2="32016"/>
                        <a14:foregroundMark x1="47739" y1="31225" x2="47739" y2="31225"/>
                        <a14:foregroundMark x1="56281" y1="33202" x2="56281" y2="33202"/>
                        <a14:foregroundMark x1="64824" y1="21344" x2="64824" y2="21344"/>
                        <a14:foregroundMark x1="57286" y1="32411" x2="57286" y2="32411"/>
                        <a14:foregroundMark x1="81407" y1="41107" x2="81407" y2="41107"/>
                        <a14:foregroundMark x1="78894" y1="38340" x2="78894" y2="38340"/>
                        <a14:foregroundMark x1="76884" y1="38340" x2="76884" y2="38340"/>
                        <a14:foregroundMark x1="75879" y1="38340" x2="75879" y2="38340"/>
                        <a14:foregroundMark x1="68844" y1="41107" x2="68342" y2="41897"/>
                        <a14:foregroundMark x1="58291" y1="46640" x2="58291" y2="46640"/>
                        <a14:foregroundMark x1="52764" y1="57312" x2="52764" y2="57312"/>
                        <a14:foregroundMark x1="47236" y1="56522" x2="47236" y2="56522"/>
                        <a14:foregroundMark x1="52261" y1="55731" x2="52261" y2="55731"/>
                        <a14:foregroundMark x1="52261" y1="55731" x2="52261" y2="55731"/>
                        <a14:foregroundMark x1="80905" y1="58498" x2="80905" y2="58498"/>
                        <a14:foregroundMark x1="80905" y1="58498" x2="80905" y2="58498"/>
                        <a14:foregroundMark x1="87437" y1="69565" x2="87437" y2="69565"/>
                        <a14:foregroundMark x1="87437" y1="69565" x2="87437" y2="69565"/>
                        <a14:foregroundMark x1="87437" y1="68379" x2="87437" y2="68379"/>
                        <a14:foregroundMark x1="87940" y1="67194" x2="87940" y2="66798"/>
                        <a14:foregroundMark x1="87940" y1="61660" x2="87940" y2="61660"/>
                        <a14:foregroundMark x1="73869" y1="67194" x2="73869" y2="67194"/>
                        <a14:foregroundMark x1="72864" y1="4348" x2="72864" y2="43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7751" y="2126984"/>
            <a:ext cx="502415" cy="638749"/>
          </a:xfrm>
          <a:prstGeom prst="rect">
            <a:avLst/>
          </a:prstGeom>
        </p:spPr>
      </p:pic>
      <p:sp>
        <p:nvSpPr>
          <p:cNvPr id="76" name="TextBox 25"/>
          <p:cNvSpPr txBox="1"/>
          <p:nvPr/>
        </p:nvSpPr>
        <p:spPr>
          <a:xfrm>
            <a:off x="3924360" y="3435009"/>
            <a:ext cx="2468880" cy="16065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en-US" altLang="zh-TW" b="1" dirty="0" smtClean="0" sz="1600">
                <a:solidFill>
                  <a:schemeClr val="bg1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Design</a:t>
            </a:r>
            <a:endParaRPr lang="id-ID" altLang="zh-CN" b="1" dirty="0">
              <a:solidFill>
                <a:schemeClr val="bg1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altLang="zh-TW" sz="1100" b="1" kern="100" dirty="0" smtClean="0" i="1">
                <a:solidFill>
                  <a:schemeClr val="bg1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Highlight Award:</a:t>
            </a:r>
            <a:endParaRPr lang="en-US" altLang="zh-TW" sz="1200" b="1" kern="100" dirty="0">
              <a:solidFill>
                <a:schemeClr val="bg1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altLang="zh-TW" sz="1150" b="1" kern="100" dirty="0" smtClean="0">
                <a:solidFill>
                  <a:schemeClr val="bg1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2017  1st Place</a:t>
            </a:r>
            <a:endParaRPr lang="en-US" altLang="zh-TW" sz="1200" b="1" kern="100" dirty="0">
              <a:solidFill>
                <a:schemeClr val="bg1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altLang="zh-TW" sz="1150" b="1" kern="100" dirty="0" smtClean="0">
                <a:solidFill>
                  <a:schemeClr val="bg1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2018  3rd Place</a:t>
            </a:r>
            <a:endParaRPr lang="en-US" altLang="zh-TW" sz="1200" b="1" kern="100" dirty="0" smtClean="0">
              <a:solidFill>
                <a:schemeClr val="bg1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altLang="zh-TW" sz="1150" b="1" kern="100" dirty="0" smtClean="0">
                <a:solidFill>
                  <a:schemeClr val="bg1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2020  3rd Place</a:t>
            </a:r>
            <a:endParaRPr lang="en-US" altLang="zh-TW" sz="1200" b="1" kern="100" dirty="0">
              <a:solidFill>
                <a:schemeClr val="bg1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altLang="zh-TW" sz="1150" b="1" kern="100" dirty="0" smtClean="0">
                <a:solidFill>
                  <a:schemeClr val="bg1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2021  3rd Place</a:t>
            </a:r>
            <a:endParaRPr lang="en-US" altLang="zh-TW" sz="1200" b="1" dirty="0" smtClean="0">
              <a:solidFill>
                <a:schemeClr val="bg1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altLang="zh-TW" sz="1150" b="1" kern="100" dirty="0" smtClean="0">
                <a:solidFill>
                  <a:schemeClr val="bg1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2022  2nd Place</a:t>
            </a:r>
            <a:endParaRPr lang="en-US" altLang="zh-TW" sz="1200" b="1" kern="100" dirty="0" smtClean="0">
              <a:solidFill>
                <a:schemeClr val="bg1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lvl="0">
              <a:defRPr/>
            </a:pPr>
            <a:r>
              <a:rPr lang="en-US" altLang="zh-TW" sz="1150" b="1" kern="100" dirty="0" smtClean="0">
                <a:solidFill>
                  <a:schemeClr val="bg1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2022  Outstanding Employee</a:t>
            </a:r>
            <a:endParaRPr lang="en-US" altLang="zh-CN" sz="1200" b="1" dirty="0">
              <a:solidFill>
                <a:schemeClr val="bg1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3844671" y="2984260"/>
            <a:ext cx="148470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600" b="1" u="sng" dirty="0" smtClean="0"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2013–Present</a:t>
            </a:r>
            <a:endParaRPr lang="zh-TW" altLang="en-US" sz="1600" u="sng" dirty="0"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5151252" y="3396876"/>
            <a:ext cx="16850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en-US" altLang="zh-TW" b="1" dirty="0" sz="1600">
                <a:solidFill>
                  <a:schemeClr val="bg1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Project Mgmt</a:t>
            </a:r>
            <a:endParaRPr lang="id-ID" altLang="zh-CN" b="1" dirty="0">
              <a:solidFill>
                <a:schemeClr val="bg1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5238351" y="3662563"/>
            <a:ext cx="4572000" cy="720197"/>
          </a:xfrm>
          <a:prstGeom prst="rect">
            <a:avLst/>
          </a:prstGeom>
        </p:spPr>
        <p:txBody>
          <a:bodyPr>
            <a:spAutoFit/>
          </a:bodyPr>
          <a:lstStyle/>
          <a:p>
            <a:pPr lvl="0">
              <a:defRPr/>
            </a:pPr>
            <a:r>
              <a:rPr lang="en-US" altLang="zh-TW" sz="1100" b="1" dirty="0" smtClean="0" i="1">
                <a:solidFill>
                  <a:schemeClr val="bg1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Highlight Award:</a:t>
            </a:r>
            <a:endParaRPr lang="en-US" altLang="zh-TW" sz="1200" b="1" dirty="0">
              <a:solidFill>
                <a:schemeClr val="bg1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lvl="0">
              <a:defRPr/>
            </a:pPr>
            <a:r>
              <a:rPr lang="en-US" altLang="zh-TW" sz="1150" b="1" dirty="0" smtClean="0">
                <a:solidFill>
                  <a:schemeClr val="bg1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2023  2nd Place</a:t>
            </a:r>
            <a:endParaRPr lang="en-US" altLang="zh-TW" sz="1200" b="1" dirty="0">
              <a:solidFill>
                <a:schemeClr val="bg1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lvl="0">
              <a:defRPr/>
            </a:pPr>
            <a:r>
              <a:rPr lang="en-US" altLang="zh-TW" sz="1150" b="1" dirty="0" smtClean="0">
                <a:solidFill>
                  <a:schemeClr val="bg1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2024  2nd Place</a:t>
            </a:r>
            <a:endParaRPr lang="en-US" altLang="zh-CN" sz="1200" b="1" dirty="0">
              <a:solidFill>
                <a:schemeClr val="bg1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lvl="0">
              <a:defRPr/>
            </a:pPr>
            <a:r>
              <a:rPr lang="en-US" altLang="zh-TW" sz="1150" b="1" dirty="0" smtClean="0">
                <a:solidFill>
                  <a:schemeClr val="bg1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2025  2nd Place</a:t>
            </a:r>
            <a:endParaRPr lang="en-US" altLang="zh-TW" sz="1200" b="1" dirty="0" smtClean="0">
              <a:solidFill>
                <a:schemeClr val="bg1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6251342" y="2431730"/>
            <a:ext cx="4572000" cy="566309"/>
          </a:xfrm>
          <a:prstGeom prst="rect">
            <a:avLst/>
          </a:prstGeom>
        </p:spPr>
        <p:txBody>
          <a:bodyPr>
            <a:spAutoFit/>
          </a:bodyPr>
          <a:lstStyle/>
          <a:p>
            <a:pPr lvl="0">
              <a:spcBef>
                <a:spcPct val="20000"/>
              </a:spcBef>
              <a:defRPr/>
            </a:pPr>
            <a:r>
              <a:rPr lang="en-US" altLang="zh-TW" sz="1300" b="1" dirty="0" smtClean="0">
                <a:solidFill>
                  <a:schemeClr val="bg1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Army Artillery School</a:t>
            </a:r>
            <a:endParaRPr lang="en-US" altLang="zh-TW" sz="1400" b="1" dirty="0">
              <a:solidFill>
                <a:schemeClr val="bg1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  <a:p>
            <a:pPr lvl="0">
              <a:spcBef>
                <a:spcPct val="20000"/>
              </a:spcBef>
              <a:defRPr/>
            </a:pPr>
            <a:r>
              <a:rPr lang="en-US" altLang="zh-TW" sz="1300" b="1" dirty="0">
                <a:solidFill>
                  <a:schemeClr val="bg1"/>
                </a:solidFill>
                <a:latin typeface="Arial" panose="020B0604020202020204" pitchFamily="34" charset="0"/>
                <a:ea typeface="標楷體" panose="03000509000000000000" pitchFamily="65" charset="-120"/>
                <a:cs typeface="Arial" panose="020B0604020202020204" pitchFamily="34" charset="0"/>
              </a:rPr>
              <a:t>Captain, IT Officer</a:t>
            </a:r>
            <a:endParaRPr lang="en-US" altLang="zh-TW" sz="1400" b="1" u="sng" dirty="0">
              <a:solidFill>
                <a:schemeClr val="bg1"/>
              </a:solidFill>
              <a:latin typeface="Arial" panose="020B0604020202020204" pitchFamily="34" charset="0"/>
              <a:ea typeface="標楷體" panose="03000509000000000000" pitchFamily="65" charset="-120"/>
              <a:cs typeface="Arial" panose="020B0604020202020204" pitchFamily="34" charset="0"/>
            </a:endParaRPr>
          </a:p>
        </p:txBody>
      </p:sp>
      <p:pic>
        <p:nvPicPr>
          <p:cNvPr id="81" name="圖片 80"/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455" b="87727" l="0" r="100000">
                        <a14:foregroundMark x1="10857" y1="44545" x2="10857" y2="44545"/>
                        <a14:foregroundMark x1="23143" y1="46364" x2="23143" y2="46364"/>
                        <a14:foregroundMark x1="48857" y1="45909" x2="48857" y2="45909"/>
                        <a14:foregroundMark x1="57714" y1="47273" x2="57714" y2="47273"/>
                        <a14:foregroundMark x1="59429" y1="38182" x2="59429" y2="38182"/>
                        <a14:foregroundMark x1="61429" y1="50909" x2="61429" y2="50909"/>
                        <a14:foregroundMark x1="79429" y1="44091" x2="79429" y2="4409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9357" y="2615219"/>
            <a:ext cx="2073210" cy="1303160"/>
          </a:xfrm>
          <a:prstGeom prst="rect">
            <a:avLst/>
          </a:prstGeom>
        </p:spPr>
      </p:pic>
      <p:pic>
        <p:nvPicPr>
          <p:cNvPr id="57" name="圖片 56"/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88024">
            <a:off x="6580011" y="1338374"/>
            <a:ext cx="3484921" cy="4648378"/>
          </a:xfrm>
          <a:prstGeom prst="rect">
            <a:avLst/>
          </a:prstGeom>
        </p:spPr>
      </p:pic>
      <p:pic>
        <p:nvPicPr>
          <p:cNvPr id="59" name="圖片 58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8916" y="2765733"/>
            <a:ext cx="2693146" cy="2050632"/>
          </a:xfrm>
          <a:prstGeom prst="rect">
            <a:avLst/>
          </a:prstGeom>
        </p:spPr>
      </p:pic>
      <p:pic>
        <p:nvPicPr>
          <p:cNvPr id="60" name="圖片 59"/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8604" y="774995"/>
            <a:ext cx="2844355" cy="180896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</TotalTime>
  <Words>94</Words>
  <Application>Microsoft Office PowerPoint</Application>
  <PresentationFormat>如螢幕大小 (16:9)</PresentationFormat>
  <Paragraphs>22</Paragraphs>
  <Slides>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標楷體</vt:lpstr>
      <vt:lpstr>Arial</vt:lpstr>
      <vt:lpstr>Calibri</vt:lpstr>
      <vt:lpstr>Office Theme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KW51_邱鈺珊(Susan.Chiu)</cp:lastModifiedBy>
  <cp:revision>45</cp:revision>
  <dcterms:created xsi:type="dcterms:W3CDTF">2026-02-23T05:57:33Z</dcterms:created>
  <dcterms:modified xsi:type="dcterms:W3CDTF">2026-04-10T06:26:31Z</dcterms:modified>
</cp:coreProperties>
</file>